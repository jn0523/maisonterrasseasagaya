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</p:sldIdLst>
  <p:sldSz cx="9906000" cy="6858000" type="A4"/>
  <p:notesSz cx="9144000" cy="6858000"/>
  <p:defaultTextStyle>
    <a:defPPr>
      <a:defRPr lang="en-US"/>
    </a:defPPr>
    <a:lvl1pPr marL="0" algn="l" defTabSz="45714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48" algn="l" defTabSz="45714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96" algn="l" defTabSz="45714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445" algn="l" defTabSz="45714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592" algn="l" defTabSz="45714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740" algn="l" defTabSz="45714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888" algn="l" defTabSz="45714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036" algn="l" defTabSz="45714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184" algn="l" defTabSz="45714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912" y="2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2T10:57:49.12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2152 433 1536 0 0,'0'0'10392'0'0,"-2"-3"-9951"0"0,-18-29 1117 0 0,-2 1-1 0 0,-28-29 1 0 0,30 38-1389 0 0,-1 2 1 0 0,0 1-1 0 0,-34-24 0 0 0,53 42-185 0 0,-89-56 535 0 0,83 52-382 0 0,-19-9 347 0 0,-43-17-1 0 0,36 21-130 0 0,-68-11 0 0 0,10 2 80 0 0,63 12-255 0 0,-2 2 0 0 0,-32-3 1 0 0,48 7-77 0 0,-1 0 0 0 0,0 2 1 0 0,0 0-1 0 0,0 1 1 0 0,-29 7-1 0 0,32-6-23 0 0,-1 2-1 0 0,1-1 1 0 0,0 2-1 0 0,0 0 1 0 0,0 0-1 0 0,1 1 1 0 0,0 1-1 0 0,1 0 1 0 0,-19 16-1 0 0,17-12-14 0 0,-89 91 327 0 0,-10 35-164 0 0,95-118-214 0 0,-2 2 11 0 0,0 1 1 0 0,2 0-1 0 0,1 1 0 0 0,-13 27 0 0 0,25-43-32 0 0,1-1 0 0 0,0 1 0 0 0,1 0 0 0 0,0 0 0 0 0,0 1 1 0 0,1-1-1 0 0,-1 16 0 0 0,2-18-12 0 0,0 0-1 0 0,1 0 1 0 0,0 0 0 0 0,0 0 0 0 0,1 0-1 0 0,-1 0 1 0 0,1-1 0 0 0,1 1 0 0 0,-1 0-1 0 0,1-1 1 0 0,0 0 0 0 0,3 6 0 0 0,3 2-77 0 0,1 0 0 0 0,0 0 0 0 0,0-1 0 0 0,1-1 0 0 0,1 0 0 0 0,0 0 0 0 0,0-1 0 0 0,1-1 0 0 0,20 11 0 0 0,-29-17 80 0 0,4 1-122 0 0,0 1-1 0 0,1-1 0 0 0,-1 0 1 0 0,19 4-1 0 0,-25-7 91 0 0,1-1-1 0 0,-1 1 1 0 0,0-1-1 0 0,0 0 1 0 0,1 0 0 0 0,-1 0-1 0 0,0 0 1 0 0,1-1-1 0 0,-1 1 1 0 0,0 0 0 0 0,0-1-1 0 0,0 0 1 0 0,1 0-1 0 0,-1 1 1 0 0,0-1 0 0 0,0 0-1 0 0,0-1 1 0 0,0 1-1 0 0,0 0 1 0 0,-1-1-1 0 0,1 1 1 0 0,0-1 0 0 0,0 1-1 0 0,-1-1 1 0 0,3-3-1 0 0,7-12-158 0 0,-2-1 0 0 0,0 0-1 0 0,-1 0 1 0 0,-1-1-1 0 0,10-37 1 0 0,-7 22-7 0 0,-1 3 47 0 0,-2 0 0 0 0,0 0 0 0 0,-2-1 0 0 0,1-54 0 0 0,-6 66 31 0 0,-1 0 1 0 0,-1 0-1 0 0,0 1 0 0 0,-1-1 0 0 0,-2 0 1 0 0,0 1-1 0 0,-1 0 0 0 0,-14-31 0 0 0,16 42 85 0 0,0 1-1 0 0,-1 1 0 0 0,0-1 0 0 0,0 1 0 0 0,-1 0 1 0 0,0 0-1 0 0,0 0 0 0 0,0 1 0 0 0,-12-8 0 0 0,-7-3-77 0 0,-37-16 0 0 0,28 15 93 0 0,-5-3-46 0 0,-71-24 0 0 0,89 38 92 0 0,0 1-1 0 0,0 1 1 0 0,0 1 0 0 0,-1 1 0 0 0,1 1 0 0 0,-39 3 0 0 0,-127 27 325 0 0,82-10-90 0 0,93-17-209 0 0,-109 21 329 0 0,108-19-330 0 0,1 0 0 0 0,0 0 0 0 0,0 1 0 0 0,0 1-1 0 0,1 0 1 0 0,-1 0 0 0 0,-13 12 0 0 0,19-12 18 0 0,1-1 0 0 0,0 1 0 0 0,0 0-1 0 0,1 0 1 0 0,-1 0 0 0 0,-5 14 0 0 0,8-16 154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2T10:57:49.74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385 1 1856 0 0,'0'0'8120'0'0,"-1"2"-8008"0"0,-31 55 184 0 0,-4-1 0 0 0,-48 59 0 0 0,53-74-248 0 0,-4 4-86 0 0,-2-2 0 0 0,-59 54 0 0 0,63-65-63 0 0,33-32 92 0 0,1 0 0 0 0,-1 0 1 0 0,0-1-1 0 0,0 1 0 0 0,0 0 0 0 0,0 0 0 0 0,0 0 1 0 0,0 0-1 0 0,0 0 0 0 0,0 0 0 0 0,0 0 0 0 0,1 0 0 0 0,-1 0 1 0 0,0 0-1 0 0,0 0 0 0 0,0 0 0 0 0,0 0 0 0 0,0 0 1 0 0,0 0-1 0 0,0 0 0 0 0,0 0 0 0 0,0 1 0 0 0,0-1 1 0 0,1 0-1 0 0,-1 0 0 0 0,0 0 0 0 0,0 0 0 0 0,0 0 0 0 0,0 0 1 0 0,0 0-1 0 0,0 0 0 0 0,0 0 0 0 0,0 0 0 0 0,0 0 1 0 0,0 0-1 0 0,0 0 0 0 0,0 0 0 0 0,0 1 0 0 0,0-1 1 0 0,0 0-1 0 0,0 0 0 0 0,0 0 0 0 0,0 0 0 0 0,0 0 0 0 0,1 0 1 0 0,-1 0-1 0 0,0 0 0 0 0,0 0 0 0 0,0 0 0 0 0,0 1 1 0 0,0-1-1 0 0,-1 0 0 0 0,1 0 0 0 0,0 0 0 0 0,0 0 1 0 0,0 0-1 0 0,0 0 0 0 0,0 0 0 0 0,0 0 0 0 0,0 0 1 0 0,0 0-1 0 0,0 1 0 0 0,0-1 0 0 0,0 0 0 0 0,0 0 0 0 0,0 0 1 0 0,15 1-94 0 0,19-3 137 0 0,99-7-89 0 0,-105 8 44 0 0,173-21 163 0 0,-181 19-114 0 0,18-4 47 0 0,-31 6-67 0 0,-1 0 4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7"/>
            <a:ext cx="74295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6CE0C-24C6-4590-BC71-EA4B0B4518DE}" type="datetimeFigureOut">
              <a:rPr kumimoji="1" lang="ja-JP" altLang="en-US" smtClean="0"/>
              <a:t>2026/1/2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4CDBC-F496-4904-B52D-D1056F7837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969880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6CE0C-24C6-4590-BC71-EA4B0B4518DE}" type="datetimeFigureOut">
              <a:rPr kumimoji="1" lang="ja-JP" altLang="en-US" smtClean="0"/>
              <a:t>2026/1/2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4CDBC-F496-4904-B52D-D1056F7837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168419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80" y="1709741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80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6CE0C-24C6-4590-BC71-EA4B0B4518DE}" type="datetimeFigureOut">
              <a:rPr kumimoji="1" lang="ja-JP" altLang="en-US" smtClean="0"/>
              <a:t>2026/1/2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4CDBC-F496-4904-B52D-D1056F7837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134357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9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9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6CE0C-24C6-4590-BC71-EA4B0B4518DE}" type="datetimeFigureOut">
              <a:rPr kumimoji="1" lang="ja-JP" altLang="en-US" smtClean="0"/>
              <a:t>2026/1/2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4CDBC-F496-4904-B52D-D1056F7837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91762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9" y="365128"/>
            <a:ext cx="8543925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6CE0C-24C6-4590-BC71-EA4B0B4518DE}" type="datetimeFigureOut">
              <a:rPr kumimoji="1" lang="ja-JP" altLang="en-US" smtClean="0"/>
              <a:t>2026/1/2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4CDBC-F496-4904-B52D-D1056F7837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47448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6CE0C-24C6-4590-BC71-EA4B0B4518DE}" type="datetimeFigureOut">
              <a:rPr kumimoji="1" lang="ja-JP" altLang="en-US" smtClean="0"/>
              <a:t>2026/1/2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4CDBC-F496-4904-B52D-D1056F7837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66520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6CE0C-24C6-4590-BC71-EA4B0B4518DE}" type="datetimeFigureOut">
              <a:rPr kumimoji="1" lang="ja-JP" altLang="en-US" smtClean="0"/>
              <a:t>2026/1/2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4CDBC-F496-4904-B52D-D1056F7837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982090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9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9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9" y="2057401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6CE0C-24C6-4590-BC71-EA4B0B4518DE}" type="datetimeFigureOut">
              <a:rPr kumimoji="1" lang="ja-JP" altLang="en-US" smtClean="0"/>
              <a:t>2026/1/2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4CDBC-F496-4904-B52D-D1056F7837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39409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9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9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9" y="2057401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6CE0C-24C6-4590-BC71-EA4B0B4518DE}" type="datetimeFigureOut">
              <a:rPr kumimoji="1" lang="ja-JP" altLang="en-US" smtClean="0"/>
              <a:t>2026/1/2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4CDBC-F496-4904-B52D-D1056F7837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89166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6CE0C-24C6-4590-BC71-EA4B0B4518DE}" type="datetimeFigureOut">
              <a:rPr kumimoji="1" lang="ja-JP" altLang="en-US" smtClean="0"/>
              <a:t>2026/1/2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4CDBC-F496-4904-B52D-D1056F7837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651096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3" y="365126"/>
            <a:ext cx="2135981" cy="5811839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9" y="365126"/>
            <a:ext cx="6284119" cy="5811839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6CE0C-24C6-4590-BC71-EA4B0B4518DE}" type="datetimeFigureOut">
              <a:rPr kumimoji="1" lang="ja-JP" altLang="en-US" smtClean="0"/>
              <a:t>2026/1/2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4CDBC-F496-4904-B52D-D1056F7837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284464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9" y="365128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9" y="1825625"/>
            <a:ext cx="8543925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46CE0C-24C6-4590-BC71-EA4B0B4518DE}" type="datetimeFigureOut">
              <a:rPr kumimoji="1" lang="ja-JP" altLang="en-US" smtClean="0"/>
              <a:t>2026/1/2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4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24CDBC-F496-4904-B52D-D1056F7837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8214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customXml" Target="../ink/ink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DC0DA4F-8EB0-4CC6-8614-97A6A564D712}"/>
              </a:ext>
            </a:extLst>
          </p:cNvPr>
          <p:cNvSpPr/>
          <p:nvPr/>
        </p:nvSpPr>
        <p:spPr>
          <a:xfrm>
            <a:off x="173309" y="167677"/>
            <a:ext cx="3609361" cy="528595"/>
          </a:xfrm>
          <a:prstGeom prst="rect">
            <a:avLst/>
          </a:prstGeom>
          <a:solidFill>
            <a:srgbClr val="000000">
              <a:alpha val="5000"/>
            </a:srgbClr>
          </a:solidFill>
          <a:ln w="720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r>
              <a:rPr lang="ja-JP" altLang="en-US" sz="975" dirty="0">
                <a:solidFill>
                  <a:srgbClr val="000000"/>
                </a:solidFill>
              </a:rPr>
              <a:t>マンション名</a:t>
            </a:r>
            <a:endParaRPr lang="en-US" sz="975" dirty="0">
              <a:solidFill>
                <a:srgbClr val="000000"/>
              </a:solidFill>
            </a:endParaRPr>
          </a:p>
        </p:txBody>
      </p:sp>
      <p:sp>
        <p:nvSpPr>
          <p:cNvPr id="14" name="矩形 3">
            <a:extLst>
              <a:ext uri="{FF2B5EF4-FFF2-40B4-BE49-F238E27FC236}">
                <a16:creationId xmlns:a16="http://schemas.microsoft.com/office/drawing/2014/main" id="{A969F652-10A2-7E2F-4CFF-A0E7542472A8}"/>
              </a:ext>
            </a:extLst>
          </p:cNvPr>
          <p:cNvSpPr/>
          <p:nvPr/>
        </p:nvSpPr>
        <p:spPr>
          <a:xfrm>
            <a:off x="173306" y="931442"/>
            <a:ext cx="5724653" cy="828391"/>
          </a:xfrm>
          <a:prstGeom prst="rect">
            <a:avLst/>
          </a:prstGeom>
          <a:solidFill>
            <a:srgbClr val="000000">
              <a:alpha val="5000"/>
            </a:srgbClr>
          </a:solidFill>
          <a:ln w="720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r>
              <a:rPr lang="ja-JP" altLang="en-US" sz="975" dirty="0">
                <a:solidFill>
                  <a:srgbClr val="000000"/>
                </a:solidFill>
              </a:rPr>
              <a:t>キャッチコピー</a:t>
            </a:r>
            <a:endParaRPr lang="en-US" altLang="ja-JP" sz="975" dirty="0">
              <a:solidFill>
                <a:srgbClr val="000000"/>
              </a:solidFill>
            </a:endParaRPr>
          </a:p>
          <a:p>
            <a:r>
              <a:rPr lang="ja-JP" altLang="en-US" sz="975" dirty="0">
                <a:solidFill>
                  <a:srgbClr val="000000"/>
                </a:solidFill>
              </a:rPr>
              <a:t>（快適な子育てを応援する</a:t>
            </a:r>
            <a:r>
              <a:rPr lang="en-US" altLang="ja-JP" sz="975" dirty="0">
                <a:solidFill>
                  <a:srgbClr val="000000"/>
                </a:solidFill>
              </a:rPr>
              <a:t>ZEH</a:t>
            </a:r>
            <a:r>
              <a:rPr lang="ja-JP" altLang="en-US" sz="975" dirty="0">
                <a:solidFill>
                  <a:srgbClr val="000000"/>
                </a:solidFill>
              </a:rPr>
              <a:t>住宅！</a:t>
            </a:r>
            <a:endParaRPr lang="en-US" altLang="ja-JP" sz="975" dirty="0">
              <a:solidFill>
                <a:srgbClr val="000000"/>
              </a:solidFill>
            </a:endParaRPr>
          </a:p>
          <a:p>
            <a:r>
              <a:rPr lang="ja-JP" altLang="en-US" sz="975" dirty="0">
                <a:solidFill>
                  <a:srgbClr val="000000"/>
                </a:solidFill>
              </a:rPr>
              <a:t>新宿</a:t>
            </a:r>
            <a:r>
              <a:rPr lang="en-US" altLang="ja-JP" sz="975" dirty="0">
                <a:solidFill>
                  <a:srgbClr val="000000"/>
                </a:solidFill>
              </a:rPr>
              <a:t>20</a:t>
            </a:r>
            <a:r>
              <a:rPr lang="ja-JP" altLang="en-US" sz="975" dirty="0">
                <a:solidFill>
                  <a:srgbClr val="000000"/>
                </a:solidFill>
              </a:rPr>
              <a:t>分！保育施設</a:t>
            </a:r>
            <a:r>
              <a:rPr lang="en-US" altLang="ja-JP" sz="975" dirty="0">
                <a:solidFill>
                  <a:srgbClr val="000000"/>
                </a:solidFill>
              </a:rPr>
              <a:t>/</a:t>
            </a:r>
            <a:r>
              <a:rPr lang="ja-JP" altLang="en-US" sz="975" dirty="0">
                <a:solidFill>
                  <a:srgbClr val="000000"/>
                </a:solidFill>
              </a:rPr>
              <a:t>小学校</a:t>
            </a:r>
            <a:r>
              <a:rPr lang="en-US" altLang="ja-JP" sz="975" dirty="0">
                <a:solidFill>
                  <a:srgbClr val="000000"/>
                </a:solidFill>
              </a:rPr>
              <a:t>/</a:t>
            </a:r>
            <a:r>
              <a:rPr lang="ja-JP" altLang="en-US" sz="975" dirty="0">
                <a:solidFill>
                  <a:srgbClr val="000000"/>
                </a:solidFill>
              </a:rPr>
              <a:t>球技</a:t>
            </a:r>
            <a:r>
              <a:rPr lang="en-US" altLang="ja-JP" sz="975" dirty="0">
                <a:solidFill>
                  <a:srgbClr val="000000"/>
                </a:solidFill>
              </a:rPr>
              <a:t>OK</a:t>
            </a:r>
            <a:r>
              <a:rPr lang="ja-JP" altLang="en-US" sz="975" dirty="0">
                <a:solidFill>
                  <a:srgbClr val="000000"/>
                </a:solidFill>
              </a:rPr>
              <a:t>公園</a:t>
            </a:r>
            <a:r>
              <a:rPr lang="en-US" altLang="ja-JP" sz="975" dirty="0">
                <a:solidFill>
                  <a:srgbClr val="000000"/>
                </a:solidFill>
              </a:rPr>
              <a:t>5</a:t>
            </a:r>
            <a:r>
              <a:rPr lang="ja-JP" altLang="en-US" sz="975" dirty="0">
                <a:solidFill>
                  <a:srgbClr val="000000"/>
                </a:solidFill>
              </a:rPr>
              <a:t>分圏内！家事代行級の設備！）</a:t>
            </a:r>
            <a:endParaRPr lang="en-US" altLang="ja-JP" sz="975" dirty="0">
              <a:solidFill>
                <a:srgbClr val="000000"/>
              </a:solidFill>
            </a:endParaRPr>
          </a:p>
        </p:txBody>
      </p:sp>
      <p:sp>
        <p:nvSpPr>
          <p:cNvPr id="15" name="矩形 3">
            <a:extLst>
              <a:ext uri="{FF2B5EF4-FFF2-40B4-BE49-F238E27FC236}">
                <a16:creationId xmlns:a16="http://schemas.microsoft.com/office/drawing/2014/main" id="{89AEC89C-C3E1-4854-6581-02798A7CB3BA}"/>
              </a:ext>
            </a:extLst>
          </p:cNvPr>
          <p:cNvSpPr/>
          <p:nvPr/>
        </p:nvSpPr>
        <p:spPr>
          <a:xfrm>
            <a:off x="5059172" y="134189"/>
            <a:ext cx="1052888" cy="658587"/>
          </a:xfrm>
          <a:prstGeom prst="rect">
            <a:avLst/>
          </a:prstGeom>
          <a:solidFill>
            <a:srgbClr val="000000">
              <a:alpha val="5000"/>
            </a:srgbClr>
          </a:solidFill>
          <a:ln w="720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r>
              <a:rPr lang="en-US" altLang="ja-JP" sz="975" dirty="0">
                <a:solidFill>
                  <a:srgbClr val="000000"/>
                </a:solidFill>
              </a:rPr>
              <a:t>QR</a:t>
            </a:r>
            <a:endParaRPr lang="en-US" sz="975" dirty="0">
              <a:solidFill>
                <a:srgbClr val="000000"/>
              </a:solidFill>
            </a:endParaRPr>
          </a:p>
        </p:txBody>
      </p:sp>
      <p:sp>
        <p:nvSpPr>
          <p:cNvPr id="16" name="矩形 3">
            <a:extLst>
              <a:ext uri="{FF2B5EF4-FFF2-40B4-BE49-F238E27FC236}">
                <a16:creationId xmlns:a16="http://schemas.microsoft.com/office/drawing/2014/main" id="{37C401BF-8DAB-1425-8414-A47E08D2DC09}"/>
              </a:ext>
            </a:extLst>
          </p:cNvPr>
          <p:cNvSpPr/>
          <p:nvPr/>
        </p:nvSpPr>
        <p:spPr>
          <a:xfrm>
            <a:off x="6521806" y="129756"/>
            <a:ext cx="2187497" cy="658587"/>
          </a:xfrm>
          <a:prstGeom prst="rect">
            <a:avLst/>
          </a:prstGeom>
          <a:solidFill>
            <a:srgbClr val="000000">
              <a:alpha val="5000"/>
            </a:srgbClr>
          </a:solidFill>
          <a:ln w="720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pPr lvl="3"/>
            <a:r>
              <a:rPr lang="ja-JP" altLang="en-US" sz="975" dirty="0">
                <a:solidFill>
                  <a:srgbClr val="000000"/>
                </a:solidFill>
              </a:rPr>
              <a:t>・各部屋の写真</a:t>
            </a:r>
            <a:endParaRPr lang="en-US" altLang="ja-JP" sz="975" dirty="0">
              <a:solidFill>
                <a:srgbClr val="000000"/>
              </a:solidFill>
            </a:endParaRPr>
          </a:p>
          <a:p>
            <a:pPr lvl="3"/>
            <a:r>
              <a:rPr lang="ja-JP" altLang="en-US" sz="975" dirty="0">
                <a:solidFill>
                  <a:srgbClr val="000000"/>
                </a:solidFill>
              </a:rPr>
              <a:t>・周辺地図</a:t>
            </a:r>
            <a:endParaRPr lang="en-US" altLang="ja-JP" sz="975" dirty="0">
              <a:solidFill>
                <a:srgbClr val="000000"/>
              </a:solidFill>
            </a:endParaRPr>
          </a:p>
          <a:p>
            <a:pPr lvl="3"/>
            <a:r>
              <a:rPr lang="ja-JP" altLang="en-US" sz="975" dirty="0">
                <a:solidFill>
                  <a:srgbClr val="000000"/>
                </a:solidFill>
              </a:rPr>
              <a:t>・内見ガイド</a:t>
            </a:r>
            <a:endParaRPr lang="en-US" sz="975" dirty="0">
              <a:solidFill>
                <a:srgbClr val="000000"/>
              </a:solidFill>
            </a:endParaRPr>
          </a:p>
        </p:txBody>
      </p:sp>
      <p:sp>
        <p:nvSpPr>
          <p:cNvPr id="17" name="矩形 3">
            <a:extLst>
              <a:ext uri="{FF2B5EF4-FFF2-40B4-BE49-F238E27FC236}">
                <a16:creationId xmlns:a16="http://schemas.microsoft.com/office/drawing/2014/main" id="{C6B8BFDD-FFF3-4600-C983-8CF549FC1A03}"/>
              </a:ext>
            </a:extLst>
          </p:cNvPr>
          <p:cNvSpPr/>
          <p:nvPr/>
        </p:nvSpPr>
        <p:spPr>
          <a:xfrm>
            <a:off x="2299505" y="1936674"/>
            <a:ext cx="3857523" cy="2319887"/>
          </a:xfrm>
          <a:prstGeom prst="rect">
            <a:avLst/>
          </a:prstGeom>
          <a:solidFill>
            <a:srgbClr val="000000">
              <a:alpha val="5000"/>
            </a:srgbClr>
          </a:solidFill>
          <a:ln w="720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r>
              <a:rPr lang="ja-JP" altLang="en-US" sz="975" dirty="0">
                <a:solidFill>
                  <a:srgbClr val="000000"/>
                </a:solidFill>
              </a:rPr>
              <a:t>間取り</a:t>
            </a:r>
            <a:endParaRPr lang="en-US" sz="975" dirty="0">
              <a:solidFill>
                <a:srgbClr val="000000"/>
              </a:solidFill>
            </a:endParaRPr>
          </a:p>
        </p:txBody>
      </p:sp>
      <p:sp>
        <p:nvSpPr>
          <p:cNvPr id="19" name="矩形 3">
            <a:extLst>
              <a:ext uri="{FF2B5EF4-FFF2-40B4-BE49-F238E27FC236}">
                <a16:creationId xmlns:a16="http://schemas.microsoft.com/office/drawing/2014/main" id="{B775E80E-21C7-95A4-C6FF-C7D5FBA607DD}"/>
              </a:ext>
            </a:extLst>
          </p:cNvPr>
          <p:cNvSpPr/>
          <p:nvPr/>
        </p:nvSpPr>
        <p:spPr>
          <a:xfrm>
            <a:off x="6314037" y="2456206"/>
            <a:ext cx="2395265" cy="1742031"/>
          </a:xfrm>
          <a:prstGeom prst="rect">
            <a:avLst/>
          </a:prstGeom>
          <a:solidFill>
            <a:srgbClr val="000000">
              <a:alpha val="5000"/>
            </a:srgbClr>
          </a:solidFill>
          <a:ln w="720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r>
              <a:rPr lang="ja-JP" altLang="en-US" sz="975" dirty="0">
                <a:solidFill>
                  <a:srgbClr val="000000"/>
                </a:solidFill>
              </a:rPr>
              <a:t>賃料など条件</a:t>
            </a:r>
            <a:endParaRPr lang="en-US" sz="975" dirty="0">
              <a:solidFill>
                <a:srgbClr val="000000"/>
              </a:solidFill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E476174D-3EF0-A51D-C89F-3DD48FA36FC6}"/>
              </a:ext>
            </a:extLst>
          </p:cNvPr>
          <p:cNvSpPr txBox="1"/>
          <p:nvPr/>
        </p:nvSpPr>
        <p:spPr>
          <a:xfrm>
            <a:off x="6908818" y="266720"/>
            <a:ext cx="1066511" cy="392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975" dirty="0">
                <a:solidFill>
                  <a:srgbClr val="000000"/>
                </a:solidFill>
              </a:rPr>
              <a:t>詳細情報は</a:t>
            </a:r>
            <a:endParaRPr lang="en-US" altLang="ja-JP" sz="975" dirty="0">
              <a:solidFill>
                <a:srgbClr val="000000"/>
              </a:solidFill>
            </a:endParaRPr>
          </a:p>
          <a:p>
            <a:r>
              <a:rPr lang="ja-JP" altLang="en-US" sz="975" dirty="0">
                <a:solidFill>
                  <a:srgbClr val="000000"/>
                </a:solidFill>
              </a:rPr>
              <a:t>こちら！</a:t>
            </a:r>
            <a:endParaRPr lang="ja-JP" altLang="en-US" sz="975" dirty="0"/>
          </a:p>
        </p:txBody>
      </p:sp>
      <p:sp>
        <p:nvSpPr>
          <p:cNvPr id="22" name="矩形 3">
            <a:extLst>
              <a:ext uri="{FF2B5EF4-FFF2-40B4-BE49-F238E27FC236}">
                <a16:creationId xmlns:a16="http://schemas.microsoft.com/office/drawing/2014/main" id="{BFC698E2-8736-B71C-67C2-B925406B0445}"/>
              </a:ext>
            </a:extLst>
          </p:cNvPr>
          <p:cNvSpPr/>
          <p:nvPr/>
        </p:nvSpPr>
        <p:spPr>
          <a:xfrm>
            <a:off x="173307" y="1994993"/>
            <a:ext cx="1969196" cy="2261563"/>
          </a:xfrm>
          <a:prstGeom prst="rect">
            <a:avLst/>
          </a:prstGeom>
          <a:solidFill>
            <a:srgbClr val="000000">
              <a:alpha val="5000"/>
            </a:srgbClr>
          </a:solidFill>
          <a:ln w="720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r>
              <a:rPr lang="en-US" altLang="ja-JP" sz="975" dirty="0">
                <a:solidFill>
                  <a:srgbClr val="000000"/>
                </a:solidFill>
              </a:rPr>
              <a:t>Point</a:t>
            </a:r>
          </a:p>
          <a:p>
            <a:r>
              <a:rPr lang="ja-JP" altLang="en-US" sz="975" dirty="0">
                <a:solidFill>
                  <a:srgbClr val="000000"/>
                </a:solidFill>
              </a:rPr>
              <a:t>あなたの</a:t>
            </a:r>
            <a:endParaRPr lang="en-US" sz="975" dirty="0">
              <a:solidFill>
                <a:srgbClr val="000000"/>
              </a:solidFill>
            </a:endParaRPr>
          </a:p>
        </p:txBody>
      </p:sp>
      <p:sp>
        <p:nvSpPr>
          <p:cNvPr id="23" name="矩形 3">
            <a:extLst>
              <a:ext uri="{FF2B5EF4-FFF2-40B4-BE49-F238E27FC236}">
                <a16:creationId xmlns:a16="http://schemas.microsoft.com/office/drawing/2014/main" id="{3CEB23C7-1DA8-2A50-9FAA-EF6DA6B51AC4}"/>
              </a:ext>
            </a:extLst>
          </p:cNvPr>
          <p:cNvSpPr/>
          <p:nvPr/>
        </p:nvSpPr>
        <p:spPr>
          <a:xfrm>
            <a:off x="6361613" y="931441"/>
            <a:ext cx="2347683" cy="1366865"/>
          </a:xfrm>
          <a:prstGeom prst="rect">
            <a:avLst/>
          </a:prstGeom>
          <a:solidFill>
            <a:srgbClr val="000000">
              <a:alpha val="5000"/>
            </a:srgbClr>
          </a:solidFill>
          <a:ln w="720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r>
              <a:rPr lang="ja-JP" altLang="en-US" sz="975" dirty="0">
                <a:solidFill>
                  <a:srgbClr val="000000"/>
                </a:solidFill>
              </a:rPr>
              <a:t>ウッドデッキ</a:t>
            </a:r>
            <a:endParaRPr lang="en-US" sz="975" dirty="0">
              <a:solidFill>
                <a:srgbClr val="000000"/>
              </a:solidFill>
            </a:endParaRPr>
          </a:p>
        </p:txBody>
      </p:sp>
      <p:grpSp>
        <p:nvGrpSpPr>
          <p:cNvPr id="26" name="グループ化 25">
            <a:extLst>
              <a:ext uri="{FF2B5EF4-FFF2-40B4-BE49-F238E27FC236}">
                <a16:creationId xmlns:a16="http://schemas.microsoft.com/office/drawing/2014/main" id="{592FD424-507B-A04C-76DD-332F24228FB5}"/>
              </a:ext>
            </a:extLst>
          </p:cNvPr>
          <p:cNvGrpSpPr/>
          <p:nvPr/>
        </p:nvGrpSpPr>
        <p:grpSpPr>
          <a:xfrm>
            <a:off x="5850215" y="230684"/>
            <a:ext cx="960480" cy="355320"/>
            <a:chOff x="5850215" y="230684"/>
            <a:chExt cx="960480" cy="355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4" name="インク 23">
                  <a:extLst>
                    <a:ext uri="{FF2B5EF4-FFF2-40B4-BE49-F238E27FC236}">
                      <a16:creationId xmlns:a16="http://schemas.microsoft.com/office/drawing/2014/main" id="{133D55B0-CC45-0598-FC2B-6DF2B75CC1AE}"/>
                    </a:ext>
                  </a:extLst>
                </p14:cNvPr>
                <p14:cNvContentPartPr/>
                <p14:nvPr/>
              </p14:nvContentPartPr>
              <p14:xfrm>
                <a:off x="6035975" y="282884"/>
                <a:ext cx="774720" cy="303120"/>
              </p14:xfrm>
            </p:contentPart>
          </mc:Choice>
          <mc:Fallback xmlns="">
            <p:pic>
              <p:nvPicPr>
                <p:cNvPr id="24" name="インク 23">
                  <a:extLst>
                    <a:ext uri="{FF2B5EF4-FFF2-40B4-BE49-F238E27FC236}">
                      <a16:creationId xmlns:a16="http://schemas.microsoft.com/office/drawing/2014/main" id="{133D55B0-CC45-0598-FC2B-6DF2B75CC1AE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000335" y="247244"/>
                  <a:ext cx="846360" cy="37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25" name="インク 24">
                  <a:extLst>
                    <a:ext uri="{FF2B5EF4-FFF2-40B4-BE49-F238E27FC236}">
                      <a16:creationId xmlns:a16="http://schemas.microsoft.com/office/drawing/2014/main" id="{032D85A1-A91E-CCD6-C90F-BA0F4C8C3013}"/>
                    </a:ext>
                  </a:extLst>
                </p14:cNvPr>
                <p14:cNvContentPartPr/>
                <p14:nvPr/>
              </p14:nvContentPartPr>
              <p14:xfrm>
                <a:off x="5850215" y="230684"/>
                <a:ext cx="174600" cy="177480"/>
              </p14:xfrm>
            </p:contentPart>
          </mc:Choice>
          <mc:Fallback xmlns="">
            <p:pic>
              <p:nvPicPr>
                <p:cNvPr id="25" name="インク 24">
                  <a:extLst>
                    <a:ext uri="{FF2B5EF4-FFF2-40B4-BE49-F238E27FC236}">
                      <a16:creationId xmlns:a16="http://schemas.microsoft.com/office/drawing/2014/main" id="{032D85A1-A91E-CCD6-C90F-BA0F4C8C301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814215" y="195044"/>
                  <a:ext cx="246240" cy="2491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9563136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56A6AC-0CF5-6A0D-0224-F50060A887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EE5E025-46F2-639A-B781-84ECEA8AE5FD}"/>
              </a:ext>
            </a:extLst>
          </p:cNvPr>
          <p:cNvSpPr/>
          <p:nvPr/>
        </p:nvSpPr>
        <p:spPr>
          <a:xfrm>
            <a:off x="6007826" y="196119"/>
            <a:ext cx="3090138" cy="642206"/>
          </a:xfrm>
          <a:prstGeom prst="rect">
            <a:avLst/>
          </a:prstGeom>
          <a:solidFill>
            <a:srgbClr val="000000">
              <a:alpha val="5000"/>
            </a:srgbClr>
          </a:solidFill>
          <a:ln w="720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r>
              <a:rPr lang="ja-JP" altLang="en-US" sz="975" dirty="0">
                <a:solidFill>
                  <a:srgbClr val="000000"/>
                </a:solidFill>
              </a:rPr>
              <a:t>マンション名</a:t>
            </a:r>
            <a:endParaRPr lang="en-US" altLang="ja-JP" sz="975" dirty="0">
              <a:solidFill>
                <a:srgbClr val="000000"/>
              </a:solidFill>
            </a:endParaRPr>
          </a:p>
          <a:p>
            <a:r>
              <a:rPr lang="ja-JP" altLang="en-US" sz="975" dirty="0">
                <a:solidFill>
                  <a:srgbClr val="000000"/>
                </a:solidFill>
              </a:rPr>
              <a:t>３</a:t>
            </a:r>
            <a:r>
              <a:rPr lang="en-US" altLang="ja-JP" sz="975" dirty="0">
                <a:solidFill>
                  <a:srgbClr val="000000"/>
                </a:solidFill>
              </a:rPr>
              <a:t>LDK</a:t>
            </a:r>
            <a:r>
              <a:rPr lang="ja-JP" altLang="en-US" sz="975" dirty="0">
                <a:solidFill>
                  <a:srgbClr val="000000"/>
                </a:solidFill>
              </a:rPr>
              <a:t> </a:t>
            </a:r>
            <a:r>
              <a:rPr lang="en-US" altLang="ja-JP" sz="975" dirty="0">
                <a:solidFill>
                  <a:srgbClr val="000000"/>
                </a:solidFill>
              </a:rPr>
              <a:t>81.18</a:t>
            </a:r>
            <a:r>
              <a:rPr lang="ja-JP" altLang="en-US" sz="975" dirty="0">
                <a:solidFill>
                  <a:srgbClr val="000000"/>
                </a:solidFill>
              </a:rPr>
              <a:t>㎡</a:t>
            </a:r>
            <a:endParaRPr lang="en-US" sz="975" dirty="0">
              <a:solidFill>
                <a:srgbClr val="000000"/>
              </a:solidFill>
            </a:endParaRPr>
          </a:p>
        </p:txBody>
      </p:sp>
      <p:sp>
        <p:nvSpPr>
          <p:cNvPr id="14" name="矩形 3">
            <a:extLst>
              <a:ext uri="{FF2B5EF4-FFF2-40B4-BE49-F238E27FC236}">
                <a16:creationId xmlns:a16="http://schemas.microsoft.com/office/drawing/2014/main" id="{56E257E8-82EF-1B85-0019-C72C66282C26}"/>
              </a:ext>
            </a:extLst>
          </p:cNvPr>
          <p:cNvSpPr/>
          <p:nvPr/>
        </p:nvSpPr>
        <p:spPr>
          <a:xfrm>
            <a:off x="125567" y="139178"/>
            <a:ext cx="4439764" cy="828391"/>
          </a:xfrm>
          <a:prstGeom prst="rect">
            <a:avLst/>
          </a:prstGeom>
          <a:solidFill>
            <a:srgbClr val="000000">
              <a:alpha val="5000"/>
            </a:srgbClr>
          </a:solidFill>
          <a:ln w="720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r>
              <a:rPr lang="ja-JP" altLang="en-US" sz="975" dirty="0">
                <a:solidFill>
                  <a:srgbClr val="000000"/>
                </a:solidFill>
              </a:rPr>
              <a:t>キャッチコピー</a:t>
            </a:r>
            <a:endParaRPr lang="en-US" altLang="ja-JP" sz="975" dirty="0">
              <a:solidFill>
                <a:srgbClr val="000000"/>
              </a:solidFill>
            </a:endParaRPr>
          </a:p>
          <a:p>
            <a:r>
              <a:rPr lang="ja-JP" altLang="en-US" sz="975" dirty="0">
                <a:solidFill>
                  <a:srgbClr val="000000"/>
                </a:solidFill>
              </a:rPr>
              <a:t>（快適な子育てを応援する</a:t>
            </a:r>
            <a:r>
              <a:rPr lang="en-US" altLang="ja-JP" sz="975" dirty="0">
                <a:solidFill>
                  <a:srgbClr val="000000"/>
                </a:solidFill>
              </a:rPr>
              <a:t>ZEH</a:t>
            </a:r>
            <a:r>
              <a:rPr lang="ja-JP" altLang="en-US" sz="975" dirty="0">
                <a:solidFill>
                  <a:srgbClr val="000000"/>
                </a:solidFill>
              </a:rPr>
              <a:t>住宅！</a:t>
            </a:r>
            <a:endParaRPr lang="en-US" altLang="ja-JP" sz="975" dirty="0">
              <a:solidFill>
                <a:srgbClr val="000000"/>
              </a:solidFill>
            </a:endParaRPr>
          </a:p>
          <a:p>
            <a:r>
              <a:rPr lang="ja-JP" altLang="en-US" sz="975" dirty="0">
                <a:solidFill>
                  <a:srgbClr val="000000"/>
                </a:solidFill>
              </a:rPr>
              <a:t>新宿</a:t>
            </a:r>
            <a:r>
              <a:rPr lang="en-US" altLang="ja-JP" sz="975" dirty="0">
                <a:solidFill>
                  <a:srgbClr val="000000"/>
                </a:solidFill>
              </a:rPr>
              <a:t>20</a:t>
            </a:r>
            <a:r>
              <a:rPr lang="ja-JP" altLang="en-US" sz="975" dirty="0">
                <a:solidFill>
                  <a:srgbClr val="000000"/>
                </a:solidFill>
              </a:rPr>
              <a:t>分！保育施設</a:t>
            </a:r>
            <a:r>
              <a:rPr lang="en-US" altLang="ja-JP" sz="975" dirty="0">
                <a:solidFill>
                  <a:srgbClr val="000000"/>
                </a:solidFill>
              </a:rPr>
              <a:t>/</a:t>
            </a:r>
            <a:r>
              <a:rPr lang="ja-JP" altLang="en-US" sz="975" dirty="0">
                <a:solidFill>
                  <a:srgbClr val="000000"/>
                </a:solidFill>
              </a:rPr>
              <a:t>小学校</a:t>
            </a:r>
            <a:r>
              <a:rPr lang="en-US" altLang="ja-JP" sz="975" dirty="0">
                <a:solidFill>
                  <a:srgbClr val="000000"/>
                </a:solidFill>
              </a:rPr>
              <a:t>/</a:t>
            </a:r>
            <a:r>
              <a:rPr lang="ja-JP" altLang="en-US" sz="975" dirty="0">
                <a:solidFill>
                  <a:srgbClr val="000000"/>
                </a:solidFill>
              </a:rPr>
              <a:t>球技</a:t>
            </a:r>
            <a:r>
              <a:rPr lang="en-US" altLang="ja-JP" sz="975" dirty="0">
                <a:solidFill>
                  <a:srgbClr val="000000"/>
                </a:solidFill>
              </a:rPr>
              <a:t>OK</a:t>
            </a:r>
            <a:r>
              <a:rPr lang="ja-JP" altLang="en-US" sz="975" dirty="0">
                <a:solidFill>
                  <a:srgbClr val="000000"/>
                </a:solidFill>
              </a:rPr>
              <a:t>公園</a:t>
            </a:r>
            <a:r>
              <a:rPr lang="en-US" altLang="ja-JP" sz="975" dirty="0">
                <a:solidFill>
                  <a:srgbClr val="000000"/>
                </a:solidFill>
              </a:rPr>
              <a:t>5</a:t>
            </a:r>
            <a:r>
              <a:rPr lang="ja-JP" altLang="en-US" sz="975" dirty="0">
                <a:solidFill>
                  <a:srgbClr val="000000"/>
                </a:solidFill>
              </a:rPr>
              <a:t>分圏内！家事代行級の設備！）</a:t>
            </a:r>
            <a:endParaRPr lang="en-US" altLang="ja-JP" sz="975" dirty="0">
              <a:solidFill>
                <a:srgbClr val="000000"/>
              </a:solidFill>
            </a:endParaRPr>
          </a:p>
        </p:txBody>
      </p:sp>
      <p:sp>
        <p:nvSpPr>
          <p:cNvPr id="15" name="矩形 3">
            <a:extLst>
              <a:ext uri="{FF2B5EF4-FFF2-40B4-BE49-F238E27FC236}">
                <a16:creationId xmlns:a16="http://schemas.microsoft.com/office/drawing/2014/main" id="{2EE746F4-B5F2-F103-F1A6-F5CEE8F26951}"/>
              </a:ext>
            </a:extLst>
          </p:cNvPr>
          <p:cNvSpPr/>
          <p:nvPr/>
        </p:nvSpPr>
        <p:spPr>
          <a:xfrm>
            <a:off x="4681327" y="184537"/>
            <a:ext cx="1052888" cy="658587"/>
          </a:xfrm>
          <a:prstGeom prst="rect">
            <a:avLst/>
          </a:prstGeom>
          <a:solidFill>
            <a:srgbClr val="000000">
              <a:alpha val="5000"/>
            </a:srgbClr>
          </a:solidFill>
          <a:ln w="720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r>
              <a:rPr lang="en-US" altLang="ja-JP" sz="975" dirty="0">
                <a:solidFill>
                  <a:srgbClr val="000000"/>
                </a:solidFill>
              </a:rPr>
              <a:t>QR</a:t>
            </a:r>
            <a:endParaRPr lang="en-US" sz="975" dirty="0">
              <a:solidFill>
                <a:srgbClr val="000000"/>
              </a:solidFill>
            </a:endParaRPr>
          </a:p>
        </p:txBody>
      </p:sp>
      <p:sp>
        <p:nvSpPr>
          <p:cNvPr id="16" name="矩形 3">
            <a:extLst>
              <a:ext uri="{FF2B5EF4-FFF2-40B4-BE49-F238E27FC236}">
                <a16:creationId xmlns:a16="http://schemas.microsoft.com/office/drawing/2014/main" id="{1834CA2B-79B1-2E57-BD08-534FDDDDFC8F}"/>
              </a:ext>
            </a:extLst>
          </p:cNvPr>
          <p:cNvSpPr/>
          <p:nvPr/>
        </p:nvSpPr>
        <p:spPr>
          <a:xfrm>
            <a:off x="4681333" y="1153641"/>
            <a:ext cx="1326495" cy="658587"/>
          </a:xfrm>
          <a:prstGeom prst="rect">
            <a:avLst/>
          </a:prstGeom>
          <a:solidFill>
            <a:srgbClr val="000000">
              <a:alpha val="5000"/>
            </a:srgbClr>
          </a:solidFill>
          <a:ln w="720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r>
              <a:rPr lang="ja-JP" altLang="en-US" sz="975" dirty="0">
                <a:solidFill>
                  <a:srgbClr val="000000"/>
                </a:solidFill>
              </a:rPr>
              <a:t>・各部屋の写真</a:t>
            </a:r>
            <a:endParaRPr lang="en-US" altLang="ja-JP" sz="975" dirty="0">
              <a:solidFill>
                <a:srgbClr val="000000"/>
              </a:solidFill>
            </a:endParaRPr>
          </a:p>
          <a:p>
            <a:r>
              <a:rPr lang="ja-JP" altLang="en-US" sz="975" dirty="0">
                <a:solidFill>
                  <a:srgbClr val="000000"/>
                </a:solidFill>
              </a:rPr>
              <a:t>・周辺地図</a:t>
            </a:r>
            <a:endParaRPr lang="en-US" altLang="ja-JP" sz="975" dirty="0">
              <a:solidFill>
                <a:srgbClr val="000000"/>
              </a:solidFill>
            </a:endParaRPr>
          </a:p>
          <a:p>
            <a:r>
              <a:rPr lang="ja-JP" altLang="en-US" sz="975" dirty="0">
                <a:solidFill>
                  <a:srgbClr val="000000"/>
                </a:solidFill>
              </a:rPr>
              <a:t>・内見ガイド</a:t>
            </a:r>
            <a:endParaRPr lang="en-US" sz="975" dirty="0">
              <a:solidFill>
                <a:srgbClr val="000000"/>
              </a:solidFill>
            </a:endParaRPr>
          </a:p>
        </p:txBody>
      </p:sp>
      <p:sp>
        <p:nvSpPr>
          <p:cNvPr id="17" name="矩形 3">
            <a:extLst>
              <a:ext uri="{FF2B5EF4-FFF2-40B4-BE49-F238E27FC236}">
                <a16:creationId xmlns:a16="http://schemas.microsoft.com/office/drawing/2014/main" id="{0BC23FFE-35C5-D06C-3CA9-851222AC7CFE}"/>
              </a:ext>
            </a:extLst>
          </p:cNvPr>
          <p:cNvSpPr/>
          <p:nvPr/>
        </p:nvSpPr>
        <p:spPr>
          <a:xfrm>
            <a:off x="2596383" y="2189421"/>
            <a:ext cx="4017830" cy="2818502"/>
          </a:xfrm>
          <a:prstGeom prst="rect">
            <a:avLst/>
          </a:prstGeom>
          <a:solidFill>
            <a:srgbClr val="000000">
              <a:alpha val="5000"/>
            </a:srgbClr>
          </a:solidFill>
          <a:ln w="720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r>
              <a:rPr lang="ja-JP" altLang="en-US" sz="975" dirty="0">
                <a:solidFill>
                  <a:srgbClr val="000000"/>
                </a:solidFill>
              </a:rPr>
              <a:t>間取り</a:t>
            </a:r>
            <a:endParaRPr lang="en-US" sz="975" dirty="0">
              <a:solidFill>
                <a:srgbClr val="000000"/>
              </a:solidFill>
            </a:endParaRPr>
          </a:p>
        </p:txBody>
      </p:sp>
      <p:sp>
        <p:nvSpPr>
          <p:cNvPr id="19" name="矩形 3">
            <a:extLst>
              <a:ext uri="{FF2B5EF4-FFF2-40B4-BE49-F238E27FC236}">
                <a16:creationId xmlns:a16="http://schemas.microsoft.com/office/drawing/2014/main" id="{4C62A64E-198A-D9DE-E839-9D0473CA3C7E}"/>
              </a:ext>
            </a:extLst>
          </p:cNvPr>
          <p:cNvSpPr/>
          <p:nvPr/>
        </p:nvSpPr>
        <p:spPr>
          <a:xfrm>
            <a:off x="6765411" y="1028418"/>
            <a:ext cx="2634703" cy="2116447"/>
          </a:xfrm>
          <a:prstGeom prst="rect">
            <a:avLst/>
          </a:prstGeom>
          <a:solidFill>
            <a:srgbClr val="000000">
              <a:alpha val="5000"/>
            </a:srgbClr>
          </a:solidFill>
          <a:ln w="720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r>
              <a:rPr lang="ja-JP" altLang="en-US" sz="975" dirty="0">
                <a:solidFill>
                  <a:srgbClr val="000000"/>
                </a:solidFill>
              </a:rPr>
              <a:t>賃料など条件</a:t>
            </a:r>
            <a:endParaRPr lang="en-US" sz="975" dirty="0">
              <a:solidFill>
                <a:srgbClr val="000000"/>
              </a:solidFill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7EFF3306-D622-ECEA-26C9-71E5F7716CF1}"/>
              </a:ext>
            </a:extLst>
          </p:cNvPr>
          <p:cNvSpPr txBox="1"/>
          <p:nvPr/>
        </p:nvSpPr>
        <p:spPr>
          <a:xfrm>
            <a:off x="4612859" y="895239"/>
            <a:ext cx="1701231" cy="24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975" dirty="0">
                <a:solidFill>
                  <a:srgbClr val="000000"/>
                </a:solidFill>
              </a:rPr>
              <a:t>詳細情報はこちら！</a:t>
            </a:r>
            <a:endParaRPr lang="ja-JP" altLang="en-US" sz="975" dirty="0"/>
          </a:p>
        </p:txBody>
      </p:sp>
      <p:sp>
        <p:nvSpPr>
          <p:cNvPr id="22" name="矩形 3">
            <a:extLst>
              <a:ext uri="{FF2B5EF4-FFF2-40B4-BE49-F238E27FC236}">
                <a16:creationId xmlns:a16="http://schemas.microsoft.com/office/drawing/2014/main" id="{5C286C02-582C-72D0-6B25-240146E28CC1}"/>
              </a:ext>
            </a:extLst>
          </p:cNvPr>
          <p:cNvSpPr/>
          <p:nvPr/>
        </p:nvSpPr>
        <p:spPr>
          <a:xfrm>
            <a:off x="125563" y="1165679"/>
            <a:ext cx="2319623" cy="3792867"/>
          </a:xfrm>
          <a:prstGeom prst="rect">
            <a:avLst/>
          </a:prstGeom>
          <a:solidFill>
            <a:srgbClr val="000000">
              <a:alpha val="5000"/>
            </a:srgbClr>
          </a:solidFill>
          <a:ln w="720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t" anchorCtr="1"/>
          <a:lstStyle/>
          <a:p>
            <a:r>
              <a:rPr lang="en-US" altLang="ja-JP" sz="975" dirty="0">
                <a:solidFill>
                  <a:srgbClr val="000000"/>
                </a:solidFill>
              </a:rPr>
              <a:t>Point</a:t>
            </a:r>
          </a:p>
          <a:p>
            <a:r>
              <a:rPr lang="en-US" altLang="ja-JP" sz="975" dirty="0">
                <a:solidFill>
                  <a:srgbClr val="000000"/>
                </a:solidFill>
              </a:rPr>
              <a:t>1.</a:t>
            </a:r>
            <a:r>
              <a:rPr lang="ja-JP" altLang="en-US" sz="975" dirty="0">
                <a:solidFill>
                  <a:srgbClr val="000000"/>
                </a:solidFill>
              </a:rPr>
              <a:t>駅徒歩</a:t>
            </a:r>
            <a:r>
              <a:rPr lang="en-US" altLang="ja-JP" sz="975" dirty="0">
                <a:solidFill>
                  <a:srgbClr val="000000"/>
                </a:solidFill>
              </a:rPr>
              <a:t>8</a:t>
            </a:r>
            <a:r>
              <a:rPr lang="ja-JP" altLang="en-US" sz="975" dirty="0">
                <a:solidFill>
                  <a:srgbClr val="000000"/>
                </a:solidFill>
              </a:rPr>
              <a:t>分</a:t>
            </a:r>
            <a:endParaRPr lang="en-US" altLang="ja-JP" sz="975" dirty="0">
              <a:solidFill>
                <a:srgbClr val="000000"/>
              </a:solidFill>
            </a:endParaRPr>
          </a:p>
          <a:p>
            <a:r>
              <a:rPr lang="ja-JP" altLang="en-US" sz="975" dirty="0">
                <a:solidFill>
                  <a:srgbClr val="000000"/>
                </a:solidFill>
              </a:rPr>
              <a:t>都心アクセスと閑静さを両立！</a:t>
            </a:r>
            <a:endParaRPr lang="en-US" altLang="ja-JP" sz="975" dirty="0">
              <a:solidFill>
                <a:srgbClr val="000000"/>
              </a:solidFill>
            </a:endParaRPr>
          </a:p>
          <a:p>
            <a:r>
              <a:rPr lang="en-US" altLang="ja-JP" sz="975" dirty="0">
                <a:solidFill>
                  <a:srgbClr val="000000"/>
                </a:solidFill>
              </a:rPr>
              <a:t>2.</a:t>
            </a:r>
            <a:r>
              <a:rPr lang="ja-JP" altLang="en-US" sz="975" dirty="0">
                <a:solidFill>
                  <a:srgbClr val="000000"/>
                </a:solidFill>
              </a:rPr>
              <a:t>徒歩</a:t>
            </a:r>
            <a:r>
              <a:rPr lang="en-US" altLang="ja-JP" sz="975" dirty="0">
                <a:solidFill>
                  <a:srgbClr val="000000"/>
                </a:solidFill>
              </a:rPr>
              <a:t>5</a:t>
            </a:r>
            <a:r>
              <a:rPr lang="ja-JP" altLang="en-US" sz="975" dirty="0">
                <a:solidFill>
                  <a:srgbClr val="000000"/>
                </a:solidFill>
              </a:rPr>
              <a:t>分圏内に子育て施設充実</a:t>
            </a:r>
            <a:endParaRPr lang="en-US" altLang="ja-JP" sz="975" dirty="0">
              <a:solidFill>
                <a:srgbClr val="000000"/>
              </a:solidFill>
            </a:endParaRPr>
          </a:p>
          <a:p>
            <a:r>
              <a:rPr lang="ja-JP" altLang="en-US" sz="975" dirty="0">
                <a:solidFill>
                  <a:srgbClr val="000000"/>
                </a:solidFill>
              </a:rPr>
              <a:t>保育園</a:t>
            </a:r>
            <a:r>
              <a:rPr lang="en-US" altLang="ja-JP" sz="975" dirty="0">
                <a:solidFill>
                  <a:srgbClr val="000000"/>
                </a:solidFill>
              </a:rPr>
              <a:t>/</a:t>
            </a:r>
            <a:r>
              <a:rPr lang="ja-JP" altLang="en-US" sz="975" dirty="0">
                <a:solidFill>
                  <a:srgbClr val="000000"/>
                </a:solidFill>
              </a:rPr>
              <a:t>幼稚園</a:t>
            </a:r>
            <a:r>
              <a:rPr lang="en-US" altLang="ja-JP" sz="975" dirty="0">
                <a:solidFill>
                  <a:srgbClr val="000000"/>
                </a:solidFill>
              </a:rPr>
              <a:t>/</a:t>
            </a:r>
            <a:r>
              <a:rPr lang="ja-JP" altLang="en-US" sz="975" dirty="0">
                <a:solidFill>
                  <a:srgbClr val="000000"/>
                </a:solidFill>
              </a:rPr>
              <a:t>小学校</a:t>
            </a:r>
            <a:r>
              <a:rPr lang="en-US" altLang="ja-JP" sz="975" dirty="0">
                <a:solidFill>
                  <a:srgbClr val="000000"/>
                </a:solidFill>
              </a:rPr>
              <a:t>/</a:t>
            </a:r>
            <a:r>
              <a:rPr lang="ja-JP" altLang="en-US" sz="975" dirty="0">
                <a:solidFill>
                  <a:srgbClr val="000000"/>
                </a:solidFill>
              </a:rPr>
              <a:t>球技</a:t>
            </a:r>
            <a:r>
              <a:rPr lang="en-US" altLang="ja-JP" sz="975" dirty="0">
                <a:solidFill>
                  <a:srgbClr val="000000"/>
                </a:solidFill>
              </a:rPr>
              <a:t>OK</a:t>
            </a:r>
            <a:r>
              <a:rPr lang="ja-JP" altLang="en-US" sz="975" dirty="0">
                <a:solidFill>
                  <a:srgbClr val="000000"/>
                </a:solidFill>
              </a:rPr>
              <a:t>公園</a:t>
            </a:r>
            <a:endParaRPr lang="en-US" altLang="ja-JP" sz="975" dirty="0">
              <a:solidFill>
                <a:srgbClr val="000000"/>
              </a:solidFill>
            </a:endParaRPr>
          </a:p>
          <a:p>
            <a:r>
              <a:rPr lang="en-US" altLang="ja-JP" sz="975" dirty="0">
                <a:solidFill>
                  <a:srgbClr val="000000"/>
                </a:solidFill>
              </a:rPr>
              <a:t>3.</a:t>
            </a:r>
            <a:r>
              <a:rPr lang="ja-JP" altLang="en-US" sz="975" dirty="0">
                <a:solidFill>
                  <a:srgbClr val="000000"/>
                </a:solidFill>
              </a:rPr>
              <a:t>食洗器・自動洗浄浴槽付</a:t>
            </a:r>
            <a:endParaRPr lang="en-US" altLang="ja-JP" sz="975" dirty="0">
              <a:solidFill>
                <a:srgbClr val="000000"/>
              </a:solidFill>
            </a:endParaRPr>
          </a:p>
          <a:p>
            <a:r>
              <a:rPr lang="ja-JP" altLang="en-US" sz="975" dirty="0">
                <a:solidFill>
                  <a:srgbClr val="000000"/>
                </a:solidFill>
              </a:rPr>
              <a:t>月</a:t>
            </a:r>
            <a:r>
              <a:rPr lang="en-US" altLang="ja-JP" sz="975" dirty="0">
                <a:solidFill>
                  <a:srgbClr val="000000"/>
                </a:solidFill>
              </a:rPr>
              <a:t>26</a:t>
            </a:r>
            <a:r>
              <a:rPr lang="ja-JP" altLang="en-US" sz="975" dirty="0">
                <a:solidFill>
                  <a:srgbClr val="000000"/>
                </a:solidFill>
              </a:rPr>
              <a:t>時間分の家事を削減 </a:t>
            </a:r>
            <a:r>
              <a:rPr lang="en-US" altLang="ja-JP" sz="975" dirty="0">
                <a:solidFill>
                  <a:srgbClr val="000000"/>
                </a:solidFill>
              </a:rPr>
              <a:t>※</a:t>
            </a:r>
            <a:r>
              <a:rPr lang="ja-JP" altLang="en-US" sz="975" dirty="0">
                <a:solidFill>
                  <a:srgbClr val="000000"/>
                </a:solidFill>
              </a:rPr>
              <a:t>１</a:t>
            </a:r>
            <a:endParaRPr lang="en-US" altLang="ja-JP" sz="975" dirty="0">
              <a:solidFill>
                <a:srgbClr val="000000"/>
              </a:solidFill>
            </a:endParaRPr>
          </a:p>
          <a:p>
            <a:r>
              <a:rPr lang="ja-JP" altLang="en-US" sz="975" dirty="0">
                <a:solidFill>
                  <a:srgbClr val="000000"/>
                </a:solidFill>
              </a:rPr>
              <a:t>約</a:t>
            </a:r>
            <a:r>
              <a:rPr lang="en-US" altLang="ja-JP" sz="975" dirty="0">
                <a:solidFill>
                  <a:srgbClr val="000000"/>
                </a:solidFill>
              </a:rPr>
              <a:t>32,000</a:t>
            </a:r>
            <a:r>
              <a:rPr lang="ja-JP" altLang="en-US" sz="975" dirty="0">
                <a:solidFill>
                  <a:srgbClr val="000000"/>
                </a:solidFill>
              </a:rPr>
              <a:t>円分の時間価値！</a:t>
            </a:r>
            <a:r>
              <a:rPr lang="en-US" altLang="ja-JP" sz="975" dirty="0">
                <a:solidFill>
                  <a:srgbClr val="000000"/>
                </a:solidFill>
              </a:rPr>
              <a:t>※</a:t>
            </a:r>
            <a:r>
              <a:rPr lang="ja-JP" altLang="en-US" sz="975" dirty="0">
                <a:solidFill>
                  <a:srgbClr val="000000"/>
                </a:solidFill>
              </a:rPr>
              <a:t>２</a:t>
            </a:r>
            <a:endParaRPr lang="en-US" altLang="ja-JP" sz="975" dirty="0">
              <a:solidFill>
                <a:srgbClr val="000000"/>
              </a:solidFill>
            </a:endParaRPr>
          </a:p>
          <a:p>
            <a:r>
              <a:rPr lang="ja-JP" altLang="en-US" sz="975" dirty="0">
                <a:solidFill>
                  <a:srgbClr val="000000"/>
                </a:solidFill>
              </a:rPr>
              <a:t>（画像 キッチン）</a:t>
            </a:r>
            <a:endParaRPr lang="en-US" altLang="ja-JP" sz="975" dirty="0">
              <a:solidFill>
                <a:srgbClr val="000000"/>
              </a:solidFill>
            </a:endParaRPr>
          </a:p>
          <a:p>
            <a:r>
              <a:rPr lang="ja-JP" altLang="en-US" sz="975" dirty="0">
                <a:solidFill>
                  <a:srgbClr val="000000"/>
                </a:solidFill>
              </a:rPr>
              <a:t>（画像 </a:t>
            </a:r>
            <a:r>
              <a:rPr lang="en-US" altLang="ja-JP" sz="975" dirty="0">
                <a:solidFill>
                  <a:srgbClr val="000000"/>
                </a:solidFill>
              </a:rPr>
              <a:t>bath</a:t>
            </a:r>
            <a:r>
              <a:rPr lang="ja-JP" altLang="en-US" sz="975" dirty="0">
                <a:solidFill>
                  <a:srgbClr val="000000"/>
                </a:solidFill>
              </a:rPr>
              <a:t>）</a:t>
            </a:r>
            <a:endParaRPr lang="en-US" sz="975" dirty="0">
              <a:solidFill>
                <a:srgbClr val="000000"/>
              </a:solidFill>
            </a:endParaRPr>
          </a:p>
        </p:txBody>
      </p:sp>
      <p:sp>
        <p:nvSpPr>
          <p:cNvPr id="23" name="矩形 3">
            <a:extLst>
              <a:ext uri="{FF2B5EF4-FFF2-40B4-BE49-F238E27FC236}">
                <a16:creationId xmlns:a16="http://schemas.microsoft.com/office/drawing/2014/main" id="{60A93953-AC66-889A-1820-89663F2CE787}"/>
              </a:ext>
            </a:extLst>
          </p:cNvPr>
          <p:cNvSpPr/>
          <p:nvPr/>
        </p:nvSpPr>
        <p:spPr>
          <a:xfrm>
            <a:off x="6673260" y="3320743"/>
            <a:ext cx="2952433" cy="1863578"/>
          </a:xfrm>
          <a:prstGeom prst="rect">
            <a:avLst/>
          </a:prstGeom>
          <a:solidFill>
            <a:srgbClr val="000000">
              <a:alpha val="5000"/>
            </a:srgbClr>
          </a:solidFill>
          <a:ln w="720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r>
              <a:rPr lang="ja-JP" altLang="en-US" sz="975" dirty="0">
                <a:solidFill>
                  <a:srgbClr val="000000"/>
                </a:solidFill>
              </a:rPr>
              <a:t>ウッドデッキ</a:t>
            </a:r>
            <a:endParaRPr lang="en-US" sz="975" dirty="0">
              <a:solidFill>
                <a:srgbClr val="000000"/>
              </a:solidFill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DEDBD4D-DD5E-4E12-D9FF-6B2720559BB1}"/>
              </a:ext>
            </a:extLst>
          </p:cNvPr>
          <p:cNvSpPr txBox="1"/>
          <p:nvPr/>
        </p:nvSpPr>
        <p:spPr>
          <a:xfrm>
            <a:off x="0" y="5057299"/>
            <a:ext cx="8082763" cy="254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051" dirty="0"/>
              <a:t>※</a:t>
            </a:r>
            <a:r>
              <a:rPr lang="ja-JP" altLang="en-US" sz="1051" dirty="0"/>
              <a:t>１</a:t>
            </a:r>
            <a:r>
              <a:rPr lang="en-US" altLang="ja-JP" sz="1051" dirty="0"/>
              <a:t> 31</a:t>
            </a:r>
            <a:r>
              <a:rPr lang="ja-JP" altLang="en-US" sz="1051" dirty="0"/>
              <a:t>日間毎日 浴槽掃除</a:t>
            </a:r>
            <a:r>
              <a:rPr lang="en-US" altLang="ja-JP" sz="1051" dirty="0"/>
              <a:t>5</a:t>
            </a:r>
            <a:r>
              <a:rPr lang="ja-JP" altLang="en-US" sz="1051" dirty="0"/>
              <a:t>分</a:t>
            </a:r>
            <a:r>
              <a:rPr lang="en-US" altLang="ja-JP" sz="1051" dirty="0"/>
              <a:t>/</a:t>
            </a:r>
            <a:r>
              <a:rPr lang="ja-JP" altLang="en-US" sz="1051" dirty="0"/>
              <a:t>食器洗い</a:t>
            </a:r>
            <a:r>
              <a:rPr lang="en-US" altLang="ja-JP" sz="1051" dirty="0"/>
              <a:t>15</a:t>
            </a:r>
            <a:r>
              <a:rPr lang="ja-JP" altLang="en-US" sz="1051" dirty="0"/>
              <a:t>分</a:t>
            </a:r>
            <a:r>
              <a:rPr lang="en-US" altLang="ja-JP" sz="1051" dirty="0"/>
              <a:t>3</a:t>
            </a:r>
            <a:r>
              <a:rPr lang="ja-JP" altLang="en-US" sz="1051" dirty="0"/>
              <a:t>回行った場合 </a:t>
            </a:r>
            <a:r>
              <a:rPr lang="en-US" altLang="ja-JP" sz="1051" dirty="0"/>
              <a:t>※</a:t>
            </a:r>
            <a:r>
              <a:rPr lang="ja-JP" altLang="en-US" sz="1051" dirty="0"/>
              <a:t>２</a:t>
            </a:r>
            <a:r>
              <a:rPr lang="en-US" altLang="ja-JP" sz="1051" dirty="0"/>
              <a:t> </a:t>
            </a:r>
            <a:r>
              <a:rPr lang="ja-JP" altLang="en-US" sz="1051" dirty="0"/>
              <a:t>東京都の最低賃金</a:t>
            </a:r>
            <a:r>
              <a:rPr lang="en-US" altLang="ja-JP" sz="1051" dirty="0"/>
              <a:t>1,226</a:t>
            </a:r>
            <a:r>
              <a:rPr lang="ja-JP" altLang="en-US" sz="1051" dirty="0"/>
              <a:t>円</a:t>
            </a:r>
            <a:r>
              <a:rPr lang="en-US" altLang="ja-JP" sz="1051" dirty="0"/>
              <a:t>/</a:t>
            </a:r>
            <a:r>
              <a:rPr lang="ja-JP" altLang="en-US" sz="1051" dirty="0"/>
              <a:t>時での概算</a:t>
            </a:r>
          </a:p>
        </p:txBody>
      </p:sp>
      <p:sp>
        <p:nvSpPr>
          <p:cNvPr id="2" name="矩形 3">
            <a:extLst>
              <a:ext uri="{FF2B5EF4-FFF2-40B4-BE49-F238E27FC236}">
                <a16:creationId xmlns:a16="http://schemas.microsoft.com/office/drawing/2014/main" id="{91BB91CA-294A-BD23-BF47-058B4CF1F322}"/>
              </a:ext>
            </a:extLst>
          </p:cNvPr>
          <p:cNvSpPr/>
          <p:nvPr/>
        </p:nvSpPr>
        <p:spPr>
          <a:xfrm>
            <a:off x="125563" y="5415824"/>
            <a:ext cx="9620016" cy="1328655"/>
          </a:xfrm>
          <a:prstGeom prst="rect">
            <a:avLst/>
          </a:prstGeom>
          <a:solidFill>
            <a:srgbClr val="000000">
              <a:alpha val="5000"/>
            </a:srgbClr>
          </a:solidFill>
          <a:ln w="720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r>
              <a:rPr lang="ja-JP" altLang="en-US" sz="2800" dirty="0">
                <a:solidFill>
                  <a:srgbClr val="000000"/>
                </a:solidFill>
              </a:rPr>
              <a:t>業者記入欄</a:t>
            </a:r>
            <a:endParaRPr lang="en-US" altLang="ja-JP" sz="28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63539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155</TotalTime>
  <Words>220</Words>
  <Application>Microsoft Office PowerPoint</Application>
  <PresentationFormat>A4 210 x 297 mm</PresentationFormat>
  <Paragraphs>40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テーマ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Junnosuke Naito</dc:creator>
  <cp:lastModifiedBy>Junnosuke Naito</cp:lastModifiedBy>
  <cp:revision>4</cp:revision>
  <dcterms:created xsi:type="dcterms:W3CDTF">2026-01-02T09:56:07Z</dcterms:created>
  <dcterms:modified xsi:type="dcterms:W3CDTF">2026-01-02T12:45:31Z</dcterms:modified>
</cp:coreProperties>
</file>