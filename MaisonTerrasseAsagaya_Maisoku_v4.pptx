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til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360000"/>
            <a:ext cx="39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E3A39"/>
                </a:solidFill>
                <a:latin typeface="Zen Old Mincho"/>
              </a:defRPr>
            </a:pPr>
            <a:r>
              <a:t>都心近接の時短邸宅</a:t>
            </a:r>
          </a:p>
          <a:p>
            <a:pPr>
              <a:defRPr sz="1100">
                <a:solidFill>
                  <a:srgbClr val="4A4036"/>
                </a:solidFill>
                <a:latin typeface="Noto Sans JP"/>
              </a:defRPr>
            </a:pPr>
            <a:r>
              <a:t>快適な子育てを応援するZEH住宅！</a:t>
            </a:r>
            <a:br/>
            <a:r>
              <a:t>新宿20分！保育施設/小学校/球技OK公園5分圏内！家事代行級の設備！</a:t>
            </a:r>
          </a:p>
        </p:txBody>
      </p:sp>
      <p:pic>
        <p:nvPicPr>
          <p:cNvPr id="4" name="Picture 3" descr="QR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00" y="360000"/>
            <a:ext cx="900000" cy="9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00000" y="129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詳細情報はこちら！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0" y="360000"/>
            <a:ext cx="3851999" cy="1260000"/>
          </a:xfrm>
          <a:prstGeom prst="rect">
            <a:avLst/>
          </a:prstGeom>
          <a:solidFill>
            <a:srgbClr val="3E3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Maison Terrasse Asagaya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3LDK 81.18㎡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800000"/>
            <a:ext cx="32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B8860B"/>
                </a:solidFill>
              </a:defRPr>
            </a:pPr>
            <a:r>
              <a:t>1. 駅徒歩8分</a:t>
            </a:r>
          </a:p>
          <a:p>
            <a:pPr>
              <a:defRPr sz="1000"/>
            </a:pPr>
            <a:r>
              <a:t>都心アクセスと閑静さを両立！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2448000"/>
            <a:ext cx="32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B8860B"/>
                </a:solidFill>
              </a:defRPr>
            </a:pPr>
            <a:r>
              <a:t>2. 徒歩5分圏内に子育て施設充実</a:t>
            </a:r>
          </a:p>
          <a:p>
            <a:pPr>
              <a:defRPr sz="1000"/>
            </a:pPr>
            <a:r>
              <a:t>保育園/幼稚園/小学校/球技OK公園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3276000"/>
            <a:ext cx="3240000" cy="2880000"/>
          </a:xfrm>
          <a:prstGeom prst="roundRect">
            <a:avLst/>
          </a:prstGeom>
          <a:solidFill>
            <a:srgbClr val="142850"/>
          </a:solidFill>
          <a:ln>
            <a:solidFill>
              <a:srgbClr val="0D1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3384000"/>
            <a:ext cx="302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E082"/>
                </a:solidFill>
                <a:latin typeface="Zen Old Mincho"/>
              </a:defRPr>
            </a:pPr>
            <a:r>
              <a:t>家事代行級の設備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3816000"/>
            <a:ext cx="2016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FE082"/>
                </a:solidFill>
              </a:defRPr>
            </a:pPr>
            <a:r>
              <a:t>自動おそうじ浴槽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洗剤を入れてスイッチを押すだけで浴槽をキレイに！</a:t>
            </a:r>
          </a:p>
        </p:txBody>
      </p:sp>
      <p:pic>
        <p:nvPicPr>
          <p:cNvPr id="12" name="Picture 11" descr="bath.JPG.convert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2000" y="3816000"/>
            <a:ext cx="900000" cy="64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8000" y="4536000"/>
            <a:ext cx="2016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FE082"/>
                </a:solidFill>
              </a:defRPr>
            </a:pPr>
            <a:r>
              <a:t>食洗機付きキッチン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リビングを見渡しやすいペニンシュラキッチン！</a:t>
            </a:r>
          </a:p>
        </p:txBody>
      </p:sp>
      <p:pic>
        <p:nvPicPr>
          <p:cNvPr id="14" name="Picture 13" descr="kitchen.JPG.convert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2000" y="4536000"/>
            <a:ext cx="900000" cy="648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8000" y="5328000"/>
            <a:ext cx="302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1ヶ月で約26時間分の家事を削減！</a:t>
            </a:r>
            <a:br/>
            <a:r>
              <a:t>約32,000円分の時間価値！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0000" y="1800000"/>
            <a:ext cx="36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✓ 各部屋の写真    ✓ 周辺地図    ✓ 内見ガイド</a:t>
            </a:r>
          </a:p>
        </p:txBody>
      </p:sp>
      <p:pic>
        <p:nvPicPr>
          <p:cNvPr id="17" name="Picture 16" descr="plan_1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0000" y="2520000"/>
            <a:ext cx="3600000" cy="226940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560000" y="1800000"/>
            <a:ext cx="2772000" cy="2160000"/>
          </a:xfrm>
          <a:prstGeom prst="rect">
            <a:avLst/>
          </a:prstGeom>
          <a:solidFill>
            <a:srgbClr val="F4F7EF"/>
          </a:solidFill>
          <a:ln>
            <a:solidFill>
              <a:srgbClr val="4A4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0000" lIns="180000"/>
          <a:lstStyle/>
          <a:p>
            <a:pPr algn="ctr">
              <a:defRPr b="1"/>
            </a:pPr>
            <a:r>
              <a:t>賃料など条件</a:t>
            </a:r>
          </a:p>
          <a:p>
            <a:pPr>
              <a:spcBef>
                <a:spcPts val="1400"/>
              </a:spcBef>
            </a:pPr>
            <a:r>
              <a:t>賃料: </a:t>
            </a:r>
          </a:p>
          <a:p>
            <a:pPr>
              <a:spcBef>
                <a:spcPts val="1400"/>
              </a:spcBef>
            </a:pPr>
            <a:r>
              <a:t>管理費: </a:t>
            </a:r>
          </a:p>
          <a:p>
            <a:pPr>
              <a:spcBef>
                <a:spcPts val="1400"/>
              </a:spcBef>
            </a:pPr>
            <a:r>
              <a:t>敷金/礼金: </a:t>
            </a:r>
          </a:p>
          <a:p>
            <a:pPr>
              <a:spcBef>
                <a:spcPts val="1400"/>
              </a:spcBef>
            </a:pPr>
            <a:r>
              <a:t>入居時期: </a:t>
            </a:r>
          </a:p>
        </p:txBody>
      </p:sp>
      <p:pic>
        <p:nvPicPr>
          <p:cNvPr id="19" name="Picture 18" descr="deck1.JPG.converte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000" y="4140000"/>
            <a:ext cx="2772000" cy="180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560000" y="5652000"/>
            <a:ext cx="277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ウッドデッキ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" y="612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※1 31日間毎日 浴槽掃除5分/食器洗い15分3回行った場合   ※2 東京都の最低賃金1,226円/時での概算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6480000"/>
            <a:ext cx="9972000" cy="72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E3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業者記入欄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